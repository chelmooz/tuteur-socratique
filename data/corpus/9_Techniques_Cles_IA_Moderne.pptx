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12700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0"/>
            <a:ext cx="0" cy="6858000"/>
          </a:xfrm>
          <a:prstGeom prst="line">
            <a:avLst/>
          </a:prstGeom>
          <a:noFill/>
          <a:ln w="12700">
            <a:solidFill>
              <a:srgbClr val="1E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0" y="0"/>
            <a:ext cx="0" cy="6858000"/>
          </a:xfrm>
          <a:prstGeom prst="line">
            <a:avLst/>
          </a:prstGeom>
          <a:noFill/>
          <a:ln w="12700">
            <a:solidFill>
              <a:srgbClr val="1E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AVANCÉ D'INTELLIGENCE ARTIFICIELLE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9875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Techniques Clés
</a:t>
            </a:r>
            <a:pPr algn="l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AE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Maîtriser l'IA Moderne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agentique, distillation, GRPO, Mixture-of-Experts, attention avancée, données synthétiques… un tour d'horizon des méthodes qui redéfinissent la conception, l'entraînement et le déploiement des LLMs.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89888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56816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23744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90672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4528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91456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58384" y="5623560"/>
            <a:ext cx="384048" cy="384048"/>
          </a:xfrm>
          <a:prstGeom prst="ellipse">
            <a:avLst/>
          </a:prstGeom>
          <a:solidFill>
            <a:srgbClr val="1E2A4A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5623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pic>
        <p:nvPicPr>
          <p:cNvPr id="28" name="Image 0" descr="/home/claude/deck/icons/cpu_38BDF8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966960" y="5074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search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: Multimodal et Agentic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Retrieval-Augmented Generation combine récupération d'informations externes et génération par un LLM, plutôt que de s'appuyer uniquement sur ses paramètres internes.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69748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2" name="Image 1" descr="/home/claude/deck/icons/layers_4F4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9077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2862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Multimodal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60320" y="333756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 la récupération à plusieurs types de données : texte, images, audio, vidéo — pour enrichir une réponse ou répondre à une question visuelle.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331720" y="4617720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6" name="Image 2" descr="/home/claude/deck/icons/compass_4F46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82803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08960" y="47823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560320" y="52578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décide lui-même quand chercher, quelles sources interroger, comment combiner les résultats et quand reformuler sa requête.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726680" y="1481328"/>
            <a:ext cx="3977640" cy="4919472"/>
          </a:xfrm>
          <a:prstGeom prst="roundRect">
            <a:avLst>
              <a:gd name="adj" fmla="val 183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0100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ORCHESTRE SES SOURCES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89720" y="2788920"/>
            <a:ext cx="914400" cy="9144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2" name="Image 3" descr="/home/claude/deck/icons/compass_0F172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300837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646920" y="3703320"/>
            <a:ext cx="-1097280" cy="914400"/>
          </a:xfrm>
          <a:prstGeom prst="line">
            <a:avLst/>
          </a:prstGeom>
          <a:noFill/>
          <a:ln w="15875">
            <a:solidFill>
              <a:srgbClr val="3B4A73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8229600" y="4617720"/>
            <a:ext cx="640080" cy="64008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818120" y="5303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646920" y="3703320"/>
            <a:ext cx="320040" cy="1371600"/>
          </a:xfrm>
          <a:prstGeom prst="line">
            <a:avLst/>
          </a:prstGeom>
          <a:noFill/>
          <a:ln w="15875">
            <a:solidFill>
              <a:srgbClr val="3B4A73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9646920" y="5074920"/>
            <a:ext cx="640080" cy="64008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235440" y="5760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646920" y="3703320"/>
            <a:ext cx="1508760" cy="914400"/>
          </a:xfrm>
          <a:prstGeom prst="line">
            <a:avLst/>
          </a:prstGeom>
          <a:noFill/>
          <a:ln w="15875">
            <a:solidFill>
              <a:srgbClr val="3B4A73"/>
            </a:solidFill>
            <a:prstDash val="dash"/>
          </a:ln>
        </p:spPr>
      </p:sp>
      <p:sp>
        <p:nvSpPr>
          <p:cNvPr id="31" name="Shape 25"/>
          <p:cNvSpPr/>
          <p:nvPr/>
        </p:nvSpPr>
        <p:spPr>
          <a:xfrm>
            <a:off x="10835640" y="4617720"/>
            <a:ext cx="640080" cy="64008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0424160" y="5303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Vidéo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8001000" y="5989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chercher ? Quelles sources ? Comment combiner 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graduation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 de Connaissances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Transférer les connaissances d'un grand modèle « professeur » vers un modèle plus petit et plus efficace, le modèle « élève ».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33172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977640" y="265176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3" name="Image 1" descr="/home/claude/deck/icons/award_0F172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50" y="284927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3566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Professeur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5176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modèle complexe — connaissances riches, coûteux à faire tourner.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537960" y="3474720"/>
            <a:ext cx="8229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6355080" y="3108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soft labels »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452360" y="233172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823960" y="26517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0" name="Image 2" descr="/home/claude/deck/icons/awar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79" y="28053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43800" y="3383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635240" y="3703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compact, imite les probabilités de sortie du professeur.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331720" y="49377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2331720" y="50474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3200" dirty="0"/>
          </a:p>
        </p:txBody>
      </p:sp>
      <p:sp>
        <p:nvSpPr>
          <p:cNvPr id="25" name="Text 20"/>
          <p:cNvSpPr/>
          <p:nvPr/>
        </p:nvSpPr>
        <p:spPr>
          <a:xfrm>
            <a:off x="2331720" y="5806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petit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0" y="49377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86400" y="50474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5486400" y="5806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performances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641080" y="49377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8641080" y="5047488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  <p:sp>
        <p:nvSpPr>
          <p:cNvPr id="31" name="Text 26"/>
          <p:cNvSpPr/>
          <p:nvPr/>
        </p:nvSpPr>
        <p:spPr>
          <a:xfrm>
            <a:off x="8641080" y="58064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&amp; mémoire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sliders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 Prompts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essais-erreurs manuels par des algorithmes qui optimisent les prompts comme on optimise les poids d'un réseau de neurones — des frameworks comme DSPy en sont l'illustration.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2331720" y="2514600"/>
            <a:ext cx="4434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560320" y="26974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MANUELLE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60320" y="30815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es un expert médical, réponds en 50 mots max… »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560320" y="370332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Essais-erreurs artisanaux, peu fiables et difficiles à maintenir à grande échelle.</a:t>
            </a:r>
            <a:endParaRPr lang="en-US" sz="1100" dirty="0"/>
          </a:p>
        </p:txBody>
      </p:sp>
      <p:pic>
        <p:nvPicPr>
          <p:cNvPr id="15" name="Image 1" descr="/home/claude/deck/icons/arrowRight_4F4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451860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52360" y="251460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680960" y="269748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ALGORITHMIQUE (DSPy)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680960" y="308152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: QuestionMédicale → RéponseCourte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680960" y="3703320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teste systématiquement les variations et trouve le prompt optimal à partir des données d'entraînement.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331720" y="51663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7"/>
          <p:cNvSpPr/>
          <p:nvPr/>
        </p:nvSpPr>
        <p:spPr>
          <a:xfrm>
            <a:off x="233172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19456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 programme modulaire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800600" y="51663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0"/>
          <p:cNvSpPr/>
          <p:nvPr/>
        </p:nvSpPr>
        <p:spPr>
          <a:xfrm>
            <a:off x="480060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6344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avec des métriques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269480" y="51663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3"/>
          <p:cNvSpPr/>
          <p:nvPr/>
        </p:nvSpPr>
        <p:spPr>
          <a:xfrm>
            <a:off x="726948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13232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prompts &amp; paramètres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9738360" y="51663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Text 26"/>
          <p:cNvSpPr/>
          <p:nvPr/>
        </p:nvSpPr>
        <p:spPr>
          <a:xfrm>
            <a:off x="97383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60120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variations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target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GRPO — Group Relative Policy Optimization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RL conçu pour améliorer le raisonnement des LLMs (méthode de référence pour DeepSeek et d'autres). Sans modèle critique séparé : les réponses d'un même groupe sont comparées entre elles.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31720" y="3072384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29443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fonction de valeur séparée → mémoire réduite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31720" y="3602736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2606040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 groupe de réponses pour une même question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331720" y="4133088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Text 13"/>
          <p:cNvSpPr/>
          <p:nvPr/>
        </p:nvSpPr>
        <p:spPr>
          <a:xfrm>
            <a:off x="2606040" y="4005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l'avantage relatif de chaque réponse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31720" y="4663440"/>
            <a:ext cx="109728" cy="10972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2606040" y="45354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Favorise les réponses de meilleure qualité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331720" y="5486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: mathématiques · raisonnement logique · cohérence des réponses longues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635240" y="1481328"/>
            <a:ext cx="4069080" cy="4919472"/>
          </a:xfrm>
          <a:prstGeom prst="roundRect">
            <a:avLst>
              <a:gd name="adj" fmla="val 1798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909560" y="1664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QUESTION — GROUPE DE RÉPONSES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001000" y="4076395"/>
            <a:ext cx="566928" cy="998525"/>
          </a:xfrm>
          <a:prstGeom prst="roundRect">
            <a:avLst>
              <a:gd name="adj" fmla="val 4839"/>
            </a:avLst>
          </a:prstGeom>
          <a:solidFill>
            <a:srgbClr val="3B4A73"/>
          </a:solidFill>
          <a:ln/>
        </p:spPr>
      </p:sp>
      <p:sp>
        <p:nvSpPr>
          <p:cNvPr id="23" name="Text 20"/>
          <p:cNvSpPr/>
          <p:nvPr/>
        </p:nvSpPr>
        <p:spPr>
          <a:xfrm>
            <a:off x="8001000" y="378378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32520" y="3220517"/>
            <a:ext cx="566928" cy="1854403"/>
          </a:xfrm>
          <a:prstGeom prst="roundRect">
            <a:avLst>
              <a:gd name="adj" fmla="val 4839"/>
            </a:avLst>
          </a:prstGeom>
          <a:solidFill>
            <a:srgbClr val="3B4A73"/>
          </a:solidFill>
          <a:ln/>
        </p:spPr>
      </p:sp>
      <p:sp>
        <p:nvSpPr>
          <p:cNvPr id="25" name="Text 22"/>
          <p:cNvSpPr/>
          <p:nvPr/>
        </p:nvSpPr>
        <p:spPr>
          <a:xfrm>
            <a:off x="8732520" y="2927909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464040" y="3767328"/>
            <a:ext cx="566928" cy="1307592"/>
          </a:xfrm>
          <a:prstGeom prst="roundRect">
            <a:avLst>
              <a:gd name="adj" fmla="val 4839"/>
            </a:avLst>
          </a:prstGeom>
          <a:solidFill>
            <a:srgbClr val="3B4A73"/>
          </a:solidFill>
          <a:ln/>
        </p:spPr>
      </p:sp>
      <p:sp>
        <p:nvSpPr>
          <p:cNvPr id="27" name="Text 24"/>
          <p:cNvSpPr/>
          <p:nvPr/>
        </p:nvSpPr>
        <p:spPr>
          <a:xfrm>
            <a:off x="9464040" y="347472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0195560" y="2911450"/>
            <a:ext cx="566928" cy="2163470"/>
          </a:xfrm>
          <a:prstGeom prst="roundRect">
            <a:avLst>
              <a:gd name="adj" fmla="val 4839"/>
            </a:avLst>
          </a:prstGeom>
          <a:solidFill>
            <a:srgbClr val="38BDF8"/>
          </a:solidFill>
          <a:ln/>
        </p:spPr>
      </p:sp>
      <p:sp>
        <p:nvSpPr>
          <p:cNvPr id="29" name="Text 26"/>
          <p:cNvSpPr/>
          <p:nvPr/>
        </p:nvSpPr>
        <p:spPr>
          <a:xfrm>
            <a:off x="10195560" y="261884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927080" y="4290365"/>
            <a:ext cx="566928" cy="784555"/>
          </a:xfrm>
          <a:prstGeom prst="roundRect">
            <a:avLst>
              <a:gd name="adj" fmla="val 4839"/>
            </a:avLst>
          </a:prstGeom>
          <a:solidFill>
            <a:srgbClr val="3B4A73"/>
          </a:solidFill>
          <a:ln/>
        </p:spPr>
      </p:sp>
      <p:sp>
        <p:nvSpPr>
          <p:cNvPr id="31" name="Text 28"/>
          <p:cNvSpPr/>
          <p:nvPr/>
        </p:nvSpPr>
        <p:spPr>
          <a:xfrm>
            <a:off x="10927080" y="3997757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01000" y="5212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relatif au sein du groupe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9646920" y="5577840"/>
            <a:ext cx="0" cy="45720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8001000" y="608076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1E2A4A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38160" y="60807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modèle vers la meilleure réponse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gitbranch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 (MoE)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se compose de plusieurs « experts » spécialisés ; un routeur sélectionne dynamiquement les 2-3 experts les plus pertinents pour chaque token, parmi des dizaines disponibles.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31720" y="2395728"/>
            <a:ext cx="598932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3240" y="356616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38BDF8"/>
          </a:solidFill>
          <a:ln/>
        </p:spPr>
      </p:sp>
      <p:sp>
        <p:nvSpPr>
          <p:cNvPr id="13" name="Text 10"/>
          <p:cNvSpPr/>
          <p:nvPr/>
        </p:nvSpPr>
        <p:spPr>
          <a:xfrm>
            <a:off x="3063240" y="35661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3200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d'entrée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69748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69748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51960" y="3886200"/>
            <a:ext cx="457200" cy="-80010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5532120" y="269748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269748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251960" y="3886200"/>
            <a:ext cx="1280160" cy="-80010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6355080" y="269748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269748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51960" y="3886200"/>
            <a:ext cx="2103120" cy="-8001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78040" y="269748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78040" y="269748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51960" y="3886200"/>
            <a:ext cx="2926080" cy="-80010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709160" y="370332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7033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51960" y="3886200"/>
            <a:ext cx="457200" cy="20574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5532120" y="370332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37033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251960" y="3886200"/>
            <a:ext cx="1280160" cy="20574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355080" y="370332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37033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251960" y="3886200"/>
            <a:ext cx="2103120" cy="20574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7178040" y="3703320"/>
            <a:ext cx="685800" cy="77724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2700">
            <a:solidFill>
              <a:srgbClr val="3B4A7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3703320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251960" y="3886200"/>
            <a:ext cx="2926080" cy="205740"/>
          </a:xfrm>
          <a:prstGeom prst="line">
            <a:avLst/>
          </a:prstGeom>
          <a:noFill/>
          <a:ln w="12700">
            <a:solidFill>
              <a:srgbClr val="2A3654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260604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activés (2 sur 8) — les autres restent au repos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549640" y="2395728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8778240" y="25603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778240" y="28346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Efficacité computationnelle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Capacité accrue (milliards de paramètres)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Spécialisation par domaine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549640" y="4160520"/>
            <a:ext cx="2880360" cy="1618488"/>
          </a:xfrm>
          <a:prstGeom prst="roundRect">
            <a:avLst>
              <a:gd name="adj" fmla="val 4520"/>
            </a:avLst>
          </a:prstGeom>
          <a:solidFill>
            <a:srgbClr val="1E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78240" y="43251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CÉLÈBRES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778240" y="461772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 · DeepSeek-V2/V3 · GPT-4 (supposé)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link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Chain-of-Agents et Chain-of-RAG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44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CHAIN-OF-AGENTS (CoA)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31720" y="17373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 via le langage naturel pour traiter les documents à contexte long, segment par segment.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317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3172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49040" y="2628900"/>
            <a:ext cx="3200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0690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6908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6908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2628900"/>
            <a:ext cx="3200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80644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0644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223760" y="2628900"/>
            <a:ext cx="3200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54380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43800" y="22402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543800" y="26060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961120" y="2628900"/>
            <a:ext cx="3200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281160" y="22402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281160" y="22402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agrégée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331720" y="3429000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31720" y="35844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CHAIN-OF-RETRIEVAL AUGMENTED GENERATION (CoRAG)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331720" y="387705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la recherche en processus itératif — idéal pour le raisonnement multi-hop.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331720" y="44348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496312" y="4599432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2"/>
          <p:cNvSpPr/>
          <p:nvPr/>
        </p:nvSpPr>
        <p:spPr>
          <a:xfrm>
            <a:off x="2496312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468880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Reformuler la requête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434840" y="4960620"/>
            <a:ext cx="20116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636008" y="44348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800600" y="4599432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7"/>
          <p:cNvSpPr/>
          <p:nvPr/>
        </p:nvSpPr>
        <p:spPr>
          <a:xfrm>
            <a:off x="480060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773168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Effectuer la recherche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739128" y="4960620"/>
            <a:ext cx="20116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6940296" y="44348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104888" y="4599432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5" name="Text 42"/>
          <p:cNvSpPr/>
          <p:nvPr/>
        </p:nvSpPr>
        <p:spPr>
          <a:xfrm>
            <a:off x="7104888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7077456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ce qui manque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9043416" y="4960620"/>
            <a:ext cx="201168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9244584" y="44348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409176" y="4599432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0" name="Text 47"/>
          <p:cNvSpPr/>
          <p:nvPr/>
        </p:nvSpPr>
        <p:spPr>
          <a:xfrm>
            <a:off x="9409176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381744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jusqu'à complétude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11329416" y="5623560"/>
            <a:ext cx="-8997696" cy="0"/>
          </a:xfrm>
          <a:prstGeom prst="line">
            <a:avLst/>
          </a:prstGeom>
          <a:noFill/>
          <a:ln w="15875">
            <a:solidFill>
              <a:srgbClr val="38BDF8"/>
            </a:solidFill>
            <a:prstDash val="dash"/>
            <a:tailEnd type="triangle"/>
          </a:ln>
        </p:spPr>
      </p:sp>
      <p:sp>
        <p:nvSpPr>
          <p:cNvPr id="53" name="Text 50"/>
          <p:cNvSpPr/>
          <p:nvPr/>
        </p:nvSpPr>
        <p:spPr>
          <a:xfrm>
            <a:off x="2331720" y="5742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jusqu'à obtenir toutes les informations nécessaires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hardDrive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 Mémoire : LightThinker &amp; MLA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508760"/>
            <a:ext cx="4434840" cy="48920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7647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0" y="18013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LightThinker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242316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du raisonnement étape par étape : les pensées intermédiaires sont condensées pendant l'inférence.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5603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6032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-26%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93192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035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30352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précision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60320" y="4389120"/>
            <a:ext cx="3977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0" y="4526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MÉMOIRE ADAPTATIVES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560320" y="489204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1E2A4A"/>
          </a:solidFill>
          <a:ln/>
        </p:spPr>
      </p:sp>
      <p:sp>
        <p:nvSpPr>
          <p:cNvPr id="24" name="Text 21"/>
          <p:cNvSpPr/>
          <p:nvPr/>
        </p:nvSpPr>
        <p:spPr>
          <a:xfrm>
            <a:off x="2560320" y="4892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77640" y="489204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1E2A4A"/>
          </a:solidFill>
          <a:ln/>
        </p:spPr>
      </p:sp>
      <p:sp>
        <p:nvSpPr>
          <p:cNvPr id="26" name="Text 23"/>
          <p:cNvSpPr/>
          <p:nvPr/>
        </p:nvSpPr>
        <p:spPr>
          <a:xfrm>
            <a:off x="3977640" y="4892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expand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394960" y="489204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1E2A4A"/>
          </a:solidFill>
          <a:ln/>
        </p:spPr>
      </p:sp>
      <p:sp>
        <p:nvSpPr>
          <p:cNvPr id="28" name="Text 25"/>
          <p:cNvSpPr/>
          <p:nvPr/>
        </p:nvSpPr>
        <p:spPr>
          <a:xfrm>
            <a:off x="5394960" y="48920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60320" y="5577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conserve que l'essentiel du raisonnement, sans perte notable de précision.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178040" y="1508760"/>
            <a:ext cx="4434840" cy="4892040"/>
          </a:xfrm>
          <a:prstGeom prst="roundRect">
            <a:avLst>
              <a:gd name="adj" fmla="val 164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06640" y="176479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38BDF8"/>
          </a:solidFill>
          <a:ln/>
        </p:spPr>
      </p:sp>
      <p:sp>
        <p:nvSpPr>
          <p:cNvPr id="32" name="Text 29"/>
          <p:cNvSpPr/>
          <p:nvPr/>
        </p:nvSpPr>
        <p:spPr>
          <a:xfrm>
            <a:off x="740664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0" y="180136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Latent Attention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406640" y="242316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Introduit dans DeepSeek-V2 : compresse les vecteurs Key/Value au lieu de les stocker en haute résolution.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406640" y="338328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E2A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98080" y="35204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/ 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résolution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869680" y="3886200"/>
            <a:ext cx="5029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9418320" y="352044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38BD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418320" y="35204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0469880" y="388620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7406640" y="4434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406640" y="48006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Reconstruit l'état utilisable à la demande, seulement quand nécessaire.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406640" y="5440680"/>
            <a:ext cx="3977640" cy="0"/>
          </a:xfrm>
          <a:prstGeom prst="line">
            <a:avLst/>
          </a:prstGeom>
          <a:noFill/>
          <a:ln w="12700">
            <a:solidFill>
              <a:srgbClr val="2A365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06640" y="55778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406640" y="58521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spectaculaire du KV Cache → inférence accélérée sur les longs contextes.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zap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Mécanismes d'Attention Avancés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536192"/>
            <a:ext cx="3063240" cy="48463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8105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60320" y="2496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Attention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60320" y="33192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56032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en moins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60320" y="4462272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4645152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mémoire du contexte pour les modèles à Multi-Head Attention. Mathématiquement équivalent à l'attention standard — aucune perte de précision.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50992" y="1536192"/>
            <a:ext cx="3063240" cy="484632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79592" y="18105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0" name="Text 17"/>
          <p:cNvSpPr/>
          <p:nvPr/>
        </p:nvSpPr>
        <p:spPr>
          <a:xfrm>
            <a:off x="5879592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879592" y="2496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879592" y="2889504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Kolmogorov-Arnold Attention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879592" y="33192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5879592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opérateurs apprenables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79592" y="4462272"/>
            <a:ext cx="2606040" cy="0"/>
          </a:xfrm>
          <a:prstGeom prst="line">
            <a:avLst/>
          </a:prstGeom>
          <a:noFill/>
          <a:ln w="12700">
            <a:solidFill>
              <a:srgbClr val="2A36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79592" y="4645152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 softmax fixe par des opérateurs apprenables. Meilleure explicabilité et interactions token-à-token.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970264" y="1536192"/>
            <a:ext cx="3063240" cy="48463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198864" y="18105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9" name="Text 26"/>
          <p:cNvSpPr/>
          <p:nvPr/>
        </p:nvSpPr>
        <p:spPr>
          <a:xfrm>
            <a:off x="9198864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198864" y="24963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XAttention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98864" y="331927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13.5x</a:t>
            </a:r>
            <a:endParaRPr lang="en-US" sz="3200" dirty="0"/>
          </a:p>
        </p:txBody>
      </p:sp>
      <p:sp>
        <p:nvSpPr>
          <p:cNvPr id="32" name="Text 29"/>
          <p:cNvSpPr/>
          <p:nvPr/>
        </p:nvSpPr>
        <p:spPr>
          <a:xfrm>
            <a:off x="9198864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198864" y="4462272"/>
            <a:ext cx="2606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98864" y="4645152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sparse à scoring antidiagonal en blocs. Accélère l'inférence sur les séquences longues sans sacrifier la précision.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15087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77724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pic>
        <p:nvPicPr>
          <p:cNvPr id="6" name="Image 0" descr="/home/claude/deck/icons/refresh_38BD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331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1720" y="4572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Synthétiques et Human-in-the-Loop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31720" y="12984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31720" y="1481328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données d'entraînement artificielles pour pallier le manque de données réelles, puis les faire valider par des humains pour garantir leur qualité.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31720" y="26974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2" name="Image 1" descr="/home/claude/deck/icons/layers_4F4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8986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08960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à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échelle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66360" y="269748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5" name="Image 2" descr="/home/claude/deck/icons/eye_4F46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89864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0" y="269748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Échantillonnage &amp;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166360" y="4617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18" name="Image 3" descr="/home/claude/deck/icons/checkCircle_38BDF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481888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43600" y="4617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humain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331720" y="461772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21" name="Image 4" descr="/home/claude/deck/icons/refresh_4F46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481888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108960" y="46177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des données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663440" y="3406140"/>
            <a:ext cx="502920" cy="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332220" y="4114800"/>
            <a:ext cx="0" cy="50292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166360" y="5326380"/>
            <a:ext cx="-50292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3497580" y="4617720"/>
            <a:ext cx="0" cy="-502920"/>
          </a:xfrm>
          <a:prstGeom prst="line">
            <a:avLst/>
          </a:prstGeom>
          <a:noFill/>
          <a:ln w="22225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818120" y="1572768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804672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 GÉNÉRATION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046720" y="2029968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Auto-instruction (Q/R depuis documents)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Évolution d'instructions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Synthèse multi-agent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818120" y="4041648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046720" y="4206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DU HITL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046720" y="4498848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Valider les sorties avant intégration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Corriger les erreurs systématiques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Fournir des préférences (RLHF, DPO)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Étiqueter les cas ambigus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techniques, un même objectif : des systèmes d'IA plus intelligents, plus efficaces, plus fiables.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709160"/>
        </p:xfrm>
        <a:graphic>
          <a:graphicData uri="http://schemas.openxmlformats.org/drawingml/2006/table">
            <a:tbl>
              <a:tblPr/>
              <a:tblGrid>
                <a:gridCol w="2377440"/>
                <a:gridCol w="3749040"/>
                <a:gridCol w="4389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 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Enrichissement contextuel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 et fraîcheur des réponses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efficace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Modèles plus petits et rapides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optimaux sans essai-erreur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Raisonnement 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Meilleures capacités de raisonnement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Efficacité à grande échelle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Modèles massifs mais rapides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(CoA / CoRAG)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Tâches complexes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 et recherche itérative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Longs contextes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Inférence économique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Vitesse et mémoire optimisées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Data + HITL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7D0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de qualité en quantité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1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2026-09-10T06:23:07Z</dcterms:created>
  <dcterms:modified xsi:type="dcterms:W3CDTF">2026-09-10T06:23:07Z</dcterms:modified>
</cp:coreProperties>
</file>