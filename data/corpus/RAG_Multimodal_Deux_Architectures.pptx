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2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6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2.png"/><Relationship Id="rId10" Type="http://schemas.openxmlformats.org/officeDocument/2006/relationships/image" Target="../media/image-4-6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EXPLIQUÉ SIMPLEMENT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Multimodal :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architectures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rendre les images d'un PDF « cherchables » comme du texte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n°1 du cours — RAG multimodal et agentique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E2A4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102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PHRASE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537667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façons de rendre les images d'un PDF exploitables par un LLM : les empreinter directement (a), ou les résumer en texte pour tout unifier (b).</a:t>
            </a:r>
            <a:endParaRPr lang="en-US" sz="1300" dirty="0"/>
          </a:p>
        </p:txBody>
      </p:sp>
      <p:pic>
        <p:nvPicPr>
          <p:cNvPr id="9" name="Image 0" descr="/home/claude/deck/icons/image_38BDF8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0149840" y="5029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search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1488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RAG en 2 phrases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331720" y="1261872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81328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répondre « de tête », le modèle cherche d'abord les passages pertinents dans une base de documents, puis rédige sa réponse en s'appuyant dessus — comme un étudiant qui consulte ses classeurs pendant l'examen.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331720" y="2514600"/>
            <a:ext cx="932688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F5D0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251460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Le problème : les PDF contiennent aussi des images (graphiques, schémas…). Comment les retrouver ?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33172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ÉTAPES COMMUNES AUX DEUX ARCHITECTURES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331720" y="3794760"/>
            <a:ext cx="1783080" cy="19202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0" y="393192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88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41448" y="4389120"/>
            <a:ext cx="1563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de PDF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441448" y="4937760"/>
            <a:ext cx="15636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sources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23944" y="4754880"/>
            <a:ext cx="6400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197096" y="3794760"/>
            <a:ext cx="1783080" cy="19202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34256" y="393192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19"/>
          <p:cNvSpPr/>
          <p:nvPr/>
        </p:nvSpPr>
        <p:spPr>
          <a:xfrm>
            <a:off x="4334256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306824" y="4389120"/>
            <a:ext cx="1563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06824" y="4937760"/>
            <a:ext cx="15636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texte et images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89320" y="4754880"/>
            <a:ext cx="6400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062472" y="3794760"/>
            <a:ext cx="1783080" cy="19202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9632" y="393192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8" name="Text 25"/>
          <p:cNvSpPr/>
          <p:nvPr/>
        </p:nvSpPr>
        <p:spPr>
          <a:xfrm>
            <a:off x="6199632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172200" y="4389120"/>
            <a:ext cx="1563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mémoire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72200" y="4937760"/>
            <a:ext cx="15636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→ base de données vectorielle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854696" y="4754880"/>
            <a:ext cx="6400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927848" y="3794760"/>
            <a:ext cx="1783080" cy="19202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65008" y="393192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4" name="Text 31"/>
          <p:cNvSpPr/>
          <p:nvPr/>
        </p:nvSpPr>
        <p:spPr>
          <a:xfrm>
            <a:off x="8065008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37576" y="4389120"/>
            <a:ext cx="1563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utilisateur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037576" y="4937760"/>
            <a:ext cx="15636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des empreintes les plus proches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9720072" y="4754880"/>
            <a:ext cx="6400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9793224" y="3794760"/>
            <a:ext cx="1783080" cy="19202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930384" y="393192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0" name="Text 37"/>
          <p:cNvSpPr/>
          <p:nvPr/>
        </p:nvSpPr>
        <p:spPr>
          <a:xfrm>
            <a:off x="9930384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902952" y="4389120"/>
            <a:ext cx="1563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 la réponse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902952" y="4937760"/>
            <a:ext cx="15636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multimodal rédige la réponse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2331720" y="59436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seule différence entre (a) et (b) : comment on représente et stocke les images.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(A)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Empreintes multimodales et bases vectorielles séparées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33856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0561320" cy="5120640"/>
          </a:xfrm>
          <a:prstGeom prst="roundRect">
            <a:avLst>
              <a:gd name="adj" fmla="val 178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74520"/>
            <a:ext cx="1234440" cy="3383280"/>
          </a:xfrm>
          <a:prstGeom prst="roundRect">
            <a:avLst>
              <a:gd name="adj" fmla="val 5185"/>
            </a:avLst>
          </a:prstGeom>
          <a:solidFill>
            <a:srgbClr val="FDF3D8"/>
          </a:solidFill>
          <a:ln w="19050">
            <a:solidFill>
              <a:srgbClr val="EBC9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9456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C964"/>
            </a:solidFill>
            <a:prstDash val="solid"/>
          </a:ln>
        </p:spPr>
      </p:sp>
      <p:pic>
        <p:nvPicPr>
          <p:cNvPr id="8" name="Image 0" descr="/home/claude/deck/icons/folder_1F29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34543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06324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2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2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PDF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11680" y="1234440"/>
            <a:ext cx="7040880" cy="1783080"/>
          </a:xfrm>
          <a:prstGeom prst="roundRect">
            <a:avLst>
              <a:gd name="adj" fmla="val 4103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48840" y="1261872"/>
            <a:ext cx="1463040" cy="1728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20440" y="1371600"/>
            <a:ext cx="1232154" cy="150876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5875">
            <a:solidFill>
              <a:srgbClr val="F4A6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07917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pic>
        <p:nvPicPr>
          <p:cNvPr id="14" name="Image 1" descr="/home/claude/deck/icons/image_BE185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501" y="158191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75304" y="2029968"/>
            <a:ext cx="11224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70882" y="2125980"/>
            <a:ext cx="164592" cy="0"/>
          </a:xfrm>
          <a:prstGeom prst="line">
            <a:avLst/>
          </a:prstGeom>
          <a:noFill/>
          <a:ln w="19050">
            <a:solidFill>
              <a:srgbClr val="F4A6BE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953762" y="1371600"/>
            <a:ext cx="1232154" cy="150876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5875">
            <a:solidFill>
              <a:srgbClr val="F4A6B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4123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pic>
        <p:nvPicPr>
          <p:cNvPr id="19" name="Image 2" descr="/home/claude/deck/icons/layers_BE185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823" y="158191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08626" y="2029968"/>
            <a:ext cx="11224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multimodales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204204" y="2125980"/>
            <a:ext cx="164592" cy="0"/>
          </a:xfrm>
          <a:prstGeom prst="line">
            <a:avLst/>
          </a:prstGeom>
          <a:noFill/>
          <a:ln w="19050">
            <a:solidFill>
              <a:srgbClr val="F4A6BE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387084" y="1371600"/>
            <a:ext cx="1232154" cy="150876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5875">
            <a:solidFill>
              <a:srgbClr val="F4A6B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74561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pic>
        <p:nvPicPr>
          <p:cNvPr id="24" name="Image 3" descr="/home/claude/deck/icons/database_BE185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145" y="158191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41948" y="2029968"/>
            <a:ext cx="11224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vectorielle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637526" y="2125980"/>
            <a:ext cx="164592" cy="0"/>
          </a:xfrm>
          <a:prstGeom prst="line">
            <a:avLst/>
          </a:prstGeom>
          <a:noFill/>
          <a:ln w="19050">
            <a:solidFill>
              <a:srgbClr val="F4A6BE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820406" y="1371600"/>
            <a:ext cx="1232154" cy="150876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5875">
            <a:solidFill>
              <a:srgbClr val="F4A6B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207883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pic>
        <p:nvPicPr>
          <p:cNvPr id="29" name="Image 4" descr="/home/claude/deck/icons/image_BE185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467" y="158191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75270" y="2029968"/>
            <a:ext cx="11224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extraites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2011680" y="3154680"/>
            <a:ext cx="7040880" cy="1783080"/>
          </a:xfrm>
          <a:prstGeom prst="roundRect">
            <a:avLst>
              <a:gd name="adj" fmla="val 4103"/>
            </a:avLst>
          </a:prstGeom>
          <a:solidFill>
            <a:srgbClr val="E0EAFB"/>
          </a:solidFill>
          <a:ln w="12700">
            <a:solidFill>
              <a:srgbClr val="93B8ED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148840" y="3182112"/>
            <a:ext cx="1463040" cy="1728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3520440" y="3291840"/>
            <a:ext cx="1232154" cy="150876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5875">
            <a:solidFill>
              <a:srgbClr val="93B8ED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907917" y="3401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EAFB"/>
          </a:solidFill>
          <a:ln w="12700">
            <a:solidFill>
              <a:srgbClr val="93B8ED"/>
            </a:solidFill>
            <a:prstDash val="solid"/>
          </a:ln>
        </p:spPr>
      </p:sp>
      <p:pic>
        <p:nvPicPr>
          <p:cNvPr id="35" name="Image 5" descr="/home/claude/deck/icons/fileText_1D4E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8501" y="3502152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575304" y="3950208"/>
            <a:ext cx="11224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extraits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770882" y="4046220"/>
            <a:ext cx="164592" cy="0"/>
          </a:xfrm>
          <a:prstGeom prst="line">
            <a:avLst/>
          </a:prstGeom>
          <a:noFill/>
          <a:ln w="19050">
            <a:solidFill>
              <a:srgbClr val="93B8ED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4953762" y="3291840"/>
            <a:ext cx="1232154" cy="150876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5875">
            <a:solidFill>
              <a:srgbClr val="93B8ED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5341239" y="3401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EAFB"/>
          </a:solidFill>
          <a:ln w="12700">
            <a:solidFill>
              <a:srgbClr val="93B8ED"/>
            </a:solidFill>
            <a:prstDash val="solid"/>
          </a:ln>
        </p:spPr>
      </p:sp>
      <p:pic>
        <p:nvPicPr>
          <p:cNvPr id="40" name="Image 6" descr="/home/claude/deck/icons/layers_1D4ED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1823" y="3502152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008626" y="3950208"/>
            <a:ext cx="11224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textuelles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6204204" y="4046220"/>
            <a:ext cx="164592" cy="0"/>
          </a:xfrm>
          <a:prstGeom prst="line">
            <a:avLst/>
          </a:prstGeom>
          <a:noFill/>
          <a:ln w="19050">
            <a:solidFill>
              <a:srgbClr val="93B8ED"/>
            </a:solidFill>
            <a:prstDash val="solid"/>
            <a:tailEnd type="triangle"/>
          </a:ln>
        </p:spPr>
      </p:sp>
      <p:sp>
        <p:nvSpPr>
          <p:cNvPr id="43" name="Shape 34"/>
          <p:cNvSpPr/>
          <p:nvPr/>
        </p:nvSpPr>
        <p:spPr>
          <a:xfrm>
            <a:off x="6387084" y="3291840"/>
            <a:ext cx="1232154" cy="150876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5875">
            <a:solidFill>
              <a:srgbClr val="93B8ED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774561" y="3401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EAFB"/>
          </a:solidFill>
          <a:ln w="12700">
            <a:solidFill>
              <a:srgbClr val="93B8ED"/>
            </a:solidFill>
            <a:prstDash val="solid"/>
          </a:ln>
        </p:spPr>
      </p:sp>
      <p:pic>
        <p:nvPicPr>
          <p:cNvPr id="45" name="Image 7" descr="/home/claude/deck/icons/database_1D4ED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5145" y="3502152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441948" y="3950208"/>
            <a:ext cx="11224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vectorielle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7637526" y="4046220"/>
            <a:ext cx="164592" cy="0"/>
          </a:xfrm>
          <a:prstGeom prst="line">
            <a:avLst/>
          </a:prstGeom>
          <a:noFill/>
          <a:ln w="19050">
            <a:solidFill>
              <a:srgbClr val="93B8ED"/>
            </a:solidFill>
            <a:prstDash val="solid"/>
            <a:tailEnd type="triangle"/>
          </a:ln>
        </p:spPr>
      </p:sp>
      <p:sp>
        <p:nvSpPr>
          <p:cNvPr id="48" name="Shape 38"/>
          <p:cNvSpPr/>
          <p:nvPr/>
        </p:nvSpPr>
        <p:spPr>
          <a:xfrm>
            <a:off x="7820406" y="3291840"/>
            <a:ext cx="1232154" cy="150876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5875">
            <a:solidFill>
              <a:srgbClr val="93B8ED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8207883" y="34015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EAFB"/>
          </a:solidFill>
          <a:ln w="12700">
            <a:solidFill>
              <a:srgbClr val="93B8ED"/>
            </a:solidFill>
            <a:prstDash val="solid"/>
          </a:ln>
        </p:spPr>
      </p:sp>
      <p:pic>
        <p:nvPicPr>
          <p:cNvPr id="50" name="Image 8" descr="/home/claude/deck/icons/fileText_1D4ED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8467" y="3502152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875270" y="3950208"/>
            <a:ext cx="11224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extraits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1828800" y="2423160"/>
            <a:ext cx="137160" cy="-29718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3" name="Shape 42"/>
          <p:cNvSpPr/>
          <p:nvPr/>
        </p:nvSpPr>
        <p:spPr>
          <a:xfrm>
            <a:off x="1828800" y="4709160"/>
            <a:ext cx="137160" cy="-6629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4" name="Shape 43"/>
          <p:cNvSpPr/>
          <p:nvPr/>
        </p:nvSpPr>
        <p:spPr>
          <a:xfrm>
            <a:off x="9555480" y="24231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E1F5E8"/>
          </a:solidFill>
          <a:ln w="19050">
            <a:solidFill>
              <a:srgbClr val="86D8A6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10104120" y="2651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86D8A6"/>
            </a:solidFill>
            <a:prstDash val="solid"/>
          </a:ln>
        </p:spPr>
      </p:sp>
      <p:pic>
        <p:nvPicPr>
          <p:cNvPr id="56" name="Image 9" descr="/home/claude/deck/icons/brain_047857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14762" y="2762402"/>
            <a:ext cx="281635" cy="281635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9646920" y="3291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050" dirty="0"/>
          </a:p>
        </p:txBody>
      </p:sp>
      <p:sp>
        <p:nvSpPr>
          <p:cNvPr id="58" name="Text 46"/>
          <p:cNvSpPr/>
          <p:nvPr/>
        </p:nvSpPr>
        <p:spPr>
          <a:xfrm>
            <a:off x="9646920" y="38404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950" dirty="0"/>
          </a:p>
        </p:txBody>
      </p:sp>
      <p:sp>
        <p:nvSpPr>
          <p:cNvPr id="59" name="Shape 47"/>
          <p:cNvSpPr/>
          <p:nvPr/>
        </p:nvSpPr>
        <p:spPr>
          <a:xfrm>
            <a:off x="9070848" y="2125980"/>
            <a:ext cx="466344" cy="982980"/>
          </a:xfrm>
          <a:prstGeom prst="line">
            <a:avLst/>
          </a:prstGeom>
          <a:noFill/>
          <a:ln w="19050">
            <a:solidFill>
              <a:srgbClr val="86D8A6"/>
            </a:solidFill>
            <a:prstDash val="solid"/>
            <a:tailEnd type="triangle"/>
          </a:ln>
        </p:spPr>
      </p:sp>
      <p:sp>
        <p:nvSpPr>
          <p:cNvPr id="60" name="Shape 48"/>
          <p:cNvSpPr/>
          <p:nvPr/>
        </p:nvSpPr>
        <p:spPr>
          <a:xfrm>
            <a:off x="9070848" y="4046220"/>
            <a:ext cx="466344" cy="-22860"/>
          </a:xfrm>
          <a:prstGeom prst="line">
            <a:avLst/>
          </a:prstGeom>
          <a:noFill/>
          <a:ln w="19050">
            <a:solidFill>
              <a:srgbClr val="86D8A6"/>
            </a:solidFill>
            <a:prstDash val="solid"/>
            <a:tailEnd type="triangle"/>
          </a:ln>
        </p:spPr>
      </p:sp>
      <p:sp>
        <p:nvSpPr>
          <p:cNvPr id="61" name="Shape 49"/>
          <p:cNvSpPr/>
          <p:nvPr/>
        </p:nvSpPr>
        <p:spPr>
          <a:xfrm>
            <a:off x="11201400" y="3017520"/>
            <a:ext cx="1188720" cy="1188720"/>
          </a:xfrm>
          <a:prstGeom prst="roundRect">
            <a:avLst>
              <a:gd name="adj" fmla="val 5385"/>
            </a:avLst>
          </a:prstGeom>
          <a:solidFill>
            <a:srgbClr val="FDEADB"/>
          </a:solidFill>
          <a:ln w="19050">
            <a:solidFill>
              <a:srgbClr val="F0B786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11567160" y="31272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0B786"/>
            </a:solidFill>
            <a:prstDash val="solid"/>
          </a:ln>
        </p:spPr>
      </p:sp>
      <p:pic>
        <p:nvPicPr>
          <p:cNvPr id="63" name="Image 10" descr="/home/claude/deck/icons/messageCircle_B45309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67744" y="3227832"/>
            <a:ext cx="256032" cy="256032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11274552" y="365760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950" dirty="0"/>
          </a:p>
        </p:txBody>
      </p:sp>
      <p:sp>
        <p:nvSpPr>
          <p:cNvPr id="65" name="Shape 52"/>
          <p:cNvSpPr/>
          <p:nvPr/>
        </p:nvSpPr>
        <p:spPr>
          <a:xfrm>
            <a:off x="11201400" y="3611880"/>
            <a:ext cx="-27432" cy="-45720"/>
          </a:xfrm>
          <a:prstGeom prst="line">
            <a:avLst/>
          </a:prstGeom>
          <a:noFill/>
          <a:ln w="19050">
            <a:solidFill>
              <a:srgbClr val="F0B786"/>
            </a:solidFill>
            <a:prstDash val="solid"/>
            <a:tailEnd type="triangle"/>
          </a:ln>
        </p:spPr>
      </p:sp>
      <p:sp>
        <p:nvSpPr>
          <p:cNvPr id="66" name="Text 53"/>
          <p:cNvSpPr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modalité garde sa propre bibliothèque et son propre langage d'empreintes — deux recherches en parallèle.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(B)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Résumés d'images et base vectorielle combinée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33856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0332720" cy="5120640"/>
          </a:xfrm>
          <a:prstGeom prst="roundRect">
            <a:avLst>
              <a:gd name="adj" fmla="val 178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914400" cy="3383280"/>
          </a:xfrm>
          <a:prstGeom prst="roundRect">
            <a:avLst>
              <a:gd name="adj" fmla="val 7000"/>
            </a:avLst>
          </a:prstGeom>
          <a:solidFill>
            <a:srgbClr val="FDF3D8"/>
          </a:solidFill>
          <a:ln w="19050">
            <a:solidFill>
              <a:srgbClr val="EBC9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BC964"/>
            </a:solidFill>
            <a:prstDash val="solid"/>
          </a:ln>
        </p:spPr>
      </p:sp>
      <p:pic>
        <p:nvPicPr>
          <p:cNvPr id="8" name="Image 0" descr="/home/claude/deck/icons/folder_1F29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225948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5216" y="2834640"/>
            <a:ext cx="841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2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2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PDF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554480" y="1216152"/>
            <a:ext cx="4709160" cy="1773936"/>
          </a:xfrm>
          <a:prstGeom prst="roundRect">
            <a:avLst>
              <a:gd name="adj" fmla="val 4124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5920" y="1216152"/>
            <a:ext cx="960120" cy="1773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1325880"/>
            <a:ext cx="822960" cy="1554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F4A6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71800" y="1417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pic>
        <p:nvPicPr>
          <p:cNvPr id="14" name="Image 1" descr="/home/claude/deck/icons/image_BE185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267" y="1497787"/>
            <a:ext cx="204826" cy="20482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70632" y="1856232"/>
            <a:ext cx="768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extraites</a:t>
            </a:r>
            <a:endParaRPr lang="en-US" sz="830" dirty="0"/>
          </a:p>
        </p:txBody>
      </p:sp>
      <p:sp>
        <p:nvSpPr>
          <p:cNvPr id="16" name="Shape 12"/>
          <p:cNvSpPr/>
          <p:nvPr/>
        </p:nvSpPr>
        <p:spPr>
          <a:xfrm>
            <a:off x="3575304" y="2103120"/>
            <a:ext cx="73152" cy="0"/>
          </a:xfrm>
          <a:prstGeom prst="line">
            <a:avLst/>
          </a:prstGeom>
          <a:noFill/>
          <a:ln w="19050">
            <a:solidFill>
              <a:srgbClr val="F4A6BE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3657600" y="1325880"/>
            <a:ext cx="822960" cy="1554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F4A6B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86200" y="1417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pic>
        <p:nvPicPr>
          <p:cNvPr id="19" name="Image 2" descr="/home/claude/deck/icons/brain_BE185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667" y="1497787"/>
            <a:ext cx="204826" cy="2048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85032" y="1856232"/>
            <a:ext cx="768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830" dirty="0"/>
          </a:p>
        </p:txBody>
      </p:sp>
      <p:sp>
        <p:nvSpPr>
          <p:cNvPr id="21" name="Shape 16"/>
          <p:cNvSpPr/>
          <p:nvPr/>
        </p:nvSpPr>
        <p:spPr>
          <a:xfrm>
            <a:off x="4489704" y="2103120"/>
            <a:ext cx="73152" cy="0"/>
          </a:xfrm>
          <a:prstGeom prst="line">
            <a:avLst/>
          </a:prstGeom>
          <a:noFill/>
          <a:ln w="19050">
            <a:solidFill>
              <a:srgbClr val="F4A6BE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4572000" y="1325880"/>
            <a:ext cx="822960" cy="1554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F4A6B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00600" y="1417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pic>
        <p:nvPicPr>
          <p:cNvPr id="24" name="Image 3" descr="/home/claude/deck/icons/fileText_BE185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067" y="1497787"/>
            <a:ext cx="204826" cy="2048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99432" y="1856232"/>
            <a:ext cx="768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Résumés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d'images</a:t>
            </a:r>
            <a:endParaRPr lang="en-US" sz="830" dirty="0"/>
          </a:p>
        </p:txBody>
      </p:sp>
      <p:sp>
        <p:nvSpPr>
          <p:cNvPr id="26" name="Shape 20"/>
          <p:cNvSpPr/>
          <p:nvPr/>
        </p:nvSpPr>
        <p:spPr>
          <a:xfrm>
            <a:off x="5404104" y="2103120"/>
            <a:ext cx="73152" cy="0"/>
          </a:xfrm>
          <a:prstGeom prst="line">
            <a:avLst/>
          </a:prstGeom>
          <a:noFill/>
          <a:ln w="19050">
            <a:solidFill>
              <a:srgbClr val="F4A6BE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486400" y="1325880"/>
            <a:ext cx="822960" cy="1554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F4A6B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715000" y="1417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pic>
        <p:nvPicPr>
          <p:cNvPr id="29" name="Image 4" descr="/home/claude/deck/icons/layers_BE185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467" y="1497787"/>
            <a:ext cx="204826" cy="20482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13832" y="1856232"/>
            <a:ext cx="768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Empreintes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textuelles</a:t>
            </a:r>
            <a:endParaRPr lang="en-US" sz="830" dirty="0"/>
          </a:p>
        </p:txBody>
      </p:sp>
      <p:sp>
        <p:nvSpPr>
          <p:cNvPr id="31" name="Shape 24"/>
          <p:cNvSpPr/>
          <p:nvPr/>
        </p:nvSpPr>
        <p:spPr>
          <a:xfrm>
            <a:off x="1554480" y="3182112"/>
            <a:ext cx="4709160" cy="1773936"/>
          </a:xfrm>
          <a:prstGeom prst="roundRect">
            <a:avLst>
              <a:gd name="adj" fmla="val 4124"/>
            </a:avLst>
          </a:prstGeom>
          <a:solidFill>
            <a:srgbClr val="E0EAFB"/>
          </a:solidFill>
          <a:ln w="12700">
            <a:solidFill>
              <a:srgbClr val="93B8ED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645920" y="3182112"/>
            <a:ext cx="960120" cy="1773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2743200" y="3291840"/>
            <a:ext cx="17145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5875">
            <a:solidFill>
              <a:srgbClr val="93B8ED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2880360" y="38633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0EAFB"/>
          </a:solidFill>
          <a:ln w="12700">
            <a:solidFill>
              <a:srgbClr val="93B8ED"/>
            </a:solidFill>
            <a:prstDash val="solid"/>
          </a:ln>
        </p:spPr>
      </p:sp>
      <p:pic>
        <p:nvPicPr>
          <p:cNvPr id="35" name="Image 5" descr="/home/claude/deck/icons/fileText_1D4E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0886" y="3953866"/>
            <a:ext cx="230429" cy="230429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364992" y="3291840"/>
            <a:ext cx="10195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extraits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466844" y="4069080"/>
            <a:ext cx="109728" cy="0"/>
          </a:xfrm>
          <a:prstGeom prst="line">
            <a:avLst/>
          </a:prstGeom>
          <a:noFill/>
          <a:ln w="19050">
            <a:solidFill>
              <a:srgbClr val="93B8ED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4594860" y="3291840"/>
            <a:ext cx="17145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5875">
            <a:solidFill>
              <a:srgbClr val="93B8ED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732020" y="38633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0EAFB"/>
          </a:solidFill>
          <a:ln w="12700">
            <a:solidFill>
              <a:srgbClr val="93B8ED"/>
            </a:solidFill>
            <a:prstDash val="solid"/>
          </a:ln>
        </p:spPr>
      </p:sp>
      <p:pic>
        <p:nvPicPr>
          <p:cNvPr id="40" name="Image 6" descr="/home/claude/deck/icons/layers_1D4ED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546" y="3953866"/>
            <a:ext cx="230429" cy="230429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216652" y="3291840"/>
            <a:ext cx="10195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Empreintes textuelles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1463040" y="2423160"/>
            <a:ext cx="45720" cy="-3200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3" name="Shape 34"/>
          <p:cNvSpPr/>
          <p:nvPr/>
        </p:nvSpPr>
        <p:spPr>
          <a:xfrm>
            <a:off x="1463040" y="4709160"/>
            <a:ext cx="45720" cy="-64008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6537960" y="1216152"/>
            <a:ext cx="1188720" cy="3739896"/>
          </a:xfrm>
          <a:prstGeom prst="roundRect">
            <a:avLst>
              <a:gd name="adj" fmla="val 5385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6592824" y="132588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Retrieveur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multi-vecteurs</a:t>
            </a:r>
            <a:endParaRPr lang="en-US" sz="870" dirty="0"/>
          </a:p>
        </p:txBody>
      </p:sp>
      <p:sp>
        <p:nvSpPr>
          <p:cNvPr id="46" name="Shape 37"/>
          <p:cNvSpPr/>
          <p:nvPr/>
        </p:nvSpPr>
        <p:spPr>
          <a:xfrm>
            <a:off x="6903720" y="26746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47" name="Image 7" descr="/home/claude/deck/icons/database_4F46E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4304" y="2775204"/>
            <a:ext cx="256032" cy="25603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592824" y="3195828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830" dirty="0"/>
          </a:p>
        </p:txBody>
      </p:sp>
      <p:sp>
        <p:nvSpPr>
          <p:cNvPr id="49" name="Shape 39"/>
          <p:cNvSpPr/>
          <p:nvPr/>
        </p:nvSpPr>
        <p:spPr>
          <a:xfrm>
            <a:off x="6327648" y="2103120"/>
            <a:ext cx="192024" cy="0"/>
          </a:xfrm>
          <a:prstGeom prst="line">
            <a:avLst/>
          </a:prstGeom>
          <a:noFill/>
          <a:ln w="19050">
            <a:solidFill>
              <a:srgbClr val="F4A6BE"/>
            </a:solidFill>
            <a:prstDash val="solid"/>
            <a:tailEnd type="triangle"/>
          </a:ln>
        </p:spPr>
      </p:sp>
      <p:sp>
        <p:nvSpPr>
          <p:cNvPr id="50" name="Shape 40"/>
          <p:cNvSpPr/>
          <p:nvPr/>
        </p:nvSpPr>
        <p:spPr>
          <a:xfrm>
            <a:off x="6190488" y="4069080"/>
            <a:ext cx="329184" cy="0"/>
          </a:xfrm>
          <a:prstGeom prst="line">
            <a:avLst/>
          </a:prstGeom>
          <a:noFill/>
          <a:ln w="19050">
            <a:solidFill>
              <a:srgbClr val="93B8ED"/>
            </a:solidFill>
            <a:prstDash val="solid"/>
            <a:tailEnd type="triangle"/>
          </a:ln>
        </p:spPr>
      </p:sp>
      <p:sp>
        <p:nvSpPr>
          <p:cNvPr id="51" name="Shape 41"/>
          <p:cNvSpPr/>
          <p:nvPr/>
        </p:nvSpPr>
        <p:spPr>
          <a:xfrm>
            <a:off x="7955280" y="1325880"/>
            <a:ext cx="822960" cy="1554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F4A6BE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8183880" y="145389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DE4EA"/>
          </a:solidFill>
          <a:ln w="12700">
            <a:solidFill>
              <a:srgbClr val="F4A6BE"/>
            </a:solidFill>
            <a:prstDash val="solid"/>
          </a:ln>
        </p:spPr>
      </p:sp>
      <p:pic>
        <p:nvPicPr>
          <p:cNvPr id="53" name="Image 8" descr="/home/claude/deck/icons/image_BE185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4347" y="1534363"/>
            <a:ext cx="204826" cy="204826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982712" y="1929384"/>
            <a:ext cx="768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extraites</a:t>
            </a:r>
            <a:endParaRPr lang="en-US" sz="850" dirty="0"/>
          </a:p>
        </p:txBody>
      </p:sp>
      <p:sp>
        <p:nvSpPr>
          <p:cNvPr id="55" name="Shape 44"/>
          <p:cNvSpPr/>
          <p:nvPr/>
        </p:nvSpPr>
        <p:spPr>
          <a:xfrm>
            <a:off x="7744968" y="2103120"/>
            <a:ext cx="192024" cy="0"/>
          </a:xfrm>
          <a:prstGeom prst="line">
            <a:avLst/>
          </a:prstGeom>
          <a:noFill/>
          <a:ln w="19050">
            <a:solidFill>
              <a:srgbClr val="F4A6BE"/>
            </a:solidFill>
            <a:prstDash val="solid"/>
            <a:tailEnd type="triangle"/>
          </a:ln>
        </p:spPr>
      </p:sp>
      <p:sp>
        <p:nvSpPr>
          <p:cNvPr id="56" name="Shape 45"/>
          <p:cNvSpPr/>
          <p:nvPr/>
        </p:nvSpPr>
        <p:spPr>
          <a:xfrm>
            <a:off x="7955280" y="3291840"/>
            <a:ext cx="822960" cy="1554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93B8ED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8183880" y="34198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0EAFB"/>
          </a:solidFill>
          <a:ln w="12700">
            <a:solidFill>
              <a:srgbClr val="93B8ED"/>
            </a:solidFill>
            <a:prstDash val="solid"/>
          </a:ln>
        </p:spPr>
      </p:sp>
      <p:pic>
        <p:nvPicPr>
          <p:cNvPr id="58" name="Image 9" descr="/home/claude/deck/icons/fileText_1D4ED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4347" y="3500323"/>
            <a:ext cx="204826" cy="204826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982712" y="3895344"/>
            <a:ext cx="768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extraits</a:t>
            </a:r>
            <a:endParaRPr lang="en-US" sz="850" dirty="0"/>
          </a:p>
        </p:txBody>
      </p:sp>
      <p:sp>
        <p:nvSpPr>
          <p:cNvPr id="60" name="Shape 48"/>
          <p:cNvSpPr/>
          <p:nvPr/>
        </p:nvSpPr>
        <p:spPr>
          <a:xfrm>
            <a:off x="7744968" y="4069080"/>
            <a:ext cx="192024" cy="0"/>
          </a:xfrm>
          <a:prstGeom prst="line">
            <a:avLst/>
          </a:prstGeom>
          <a:noFill/>
          <a:ln w="19050">
            <a:solidFill>
              <a:srgbClr val="93B8ED"/>
            </a:solidFill>
            <a:prstDash val="solid"/>
            <a:tailEnd type="triangle"/>
          </a:ln>
        </p:spPr>
      </p:sp>
      <p:sp>
        <p:nvSpPr>
          <p:cNvPr id="61" name="Shape 49"/>
          <p:cNvSpPr/>
          <p:nvPr/>
        </p:nvSpPr>
        <p:spPr>
          <a:xfrm>
            <a:off x="9006840" y="242316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E1F5E8"/>
          </a:solidFill>
          <a:ln w="19050">
            <a:solidFill>
              <a:srgbClr val="86D8A6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9418320" y="2624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6D8A6"/>
            </a:solidFill>
            <a:prstDash val="solid"/>
          </a:ln>
        </p:spPr>
      </p:sp>
      <p:pic>
        <p:nvPicPr>
          <p:cNvPr id="63" name="Image 10" descr="/home/claude/deck/icons/brain_047857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8904" y="2724912"/>
            <a:ext cx="256032" cy="256032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9061704" y="3200400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950" dirty="0"/>
          </a:p>
        </p:txBody>
      </p:sp>
      <p:sp>
        <p:nvSpPr>
          <p:cNvPr id="65" name="Text 52"/>
          <p:cNvSpPr/>
          <p:nvPr/>
        </p:nvSpPr>
        <p:spPr>
          <a:xfrm>
            <a:off x="9061704" y="3749040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870" dirty="0"/>
          </a:p>
        </p:txBody>
      </p:sp>
      <p:sp>
        <p:nvSpPr>
          <p:cNvPr id="66" name="Shape 53"/>
          <p:cNvSpPr/>
          <p:nvPr/>
        </p:nvSpPr>
        <p:spPr>
          <a:xfrm>
            <a:off x="8796528" y="2103120"/>
            <a:ext cx="192024" cy="1005840"/>
          </a:xfrm>
          <a:prstGeom prst="line">
            <a:avLst/>
          </a:prstGeom>
          <a:noFill/>
          <a:ln w="19050">
            <a:solidFill>
              <a:srgbClr val="86D8A6"/>
            </a:solidFill>
            <a:prstDash val="solid"/>
            <a:tailEnd type="triangle"/>
          </a:ln>
        </p:spPr>
      </p:sp>
      <p:sp>
        <p:nvSpPr>
          <p:cNvPr id="67" name="Shape 54"/>
          <p:cNvSpPr/>
          <p:nvPr/>
        </p:nvSpPr>
        <p:spPr>
          <a:xfrm>
            <a:off x="8796528" y="4069080"/>
            <a:ext cx="192024" cy="-45720"/>
          </a:xfrm>
          <a:prstGeom prst="line">
            <a:avLst/>
          </a:prstGeom>
          <a:noFill/>
          <a:ln w="19050">
            <a:solidFill>
              <a:srgbClr val="86D8A6"/>
            </a:solidFill>
            <a:prstDash val="solid"/>
            <a:tailEnd type="triangle"/>
          </a:ln>
        </p:spPr>
      </p:sp>
      <p:sp>
        <p:nvSpPr>
          <p:cNvPr id="68" name="Shape 55"/>
          <p:cNvSpPr/>
          <p:nvPr/>
        </p:nvSpPr>
        <p:spPr>
          <a:xfrm>
            <a:off x="10744200" y="3063240"/>
            <a:ext cx="1005840" cy="1097280"/>
          </a:xfrm>
          <a:prstGeom prst="roundRect">
            <a:avLst>
              <a:gd name="adj" fmla="val 6364"/>
            </a:avLst>
          </a:prstGeom>
          <a:solidFill>
            <a:srgbClr val="FDEADB"/>
          </a:solidFill>
          <a:ln w="19050">
            <a:solidFill>
              <a:srgbClr val="F0B786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11041380" y="317296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0B786"/>
            </a:solidFill>
            <a:prstDash val="solid"/>
          </a:ln>
        </p:spPr>
      </p:sp>
      <p:pic>
        <p:nvPicPr>
          <p:cNvPr id="70" name="Image 11" descr="/home/claude/deck/icons/messageCircle_B45309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31906" y="3263494"/>
            <a:ext cx="230429" cy="230429"/>
          </a:xfrm>
          <a:prstGeom prst="rect">
            <a:avLst/>
          </a:prstGeom>
        </p:spPr>
      </p:pic>
      <p:sp>
        <p:nvSpPr>
          <p:cNvPr id="71" name="Text 57"/>
          <p:cNvSpPr/>
          <p:nvPr/>
        </p:nvSpPr>
        <p:spPr>
          <a:xfrm>
            <a:off x="10780776" y="3657600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850" dirty="0"/>
          </a:p>
        </p:txBody>
      </p:sp>
      <p:sp>
        <p:nvSpPr>
          <p:cNvPr id="72" name="Shape 58"/>
          <p:cNvSpPr/>
          <p:nvPr/>
        </p:nvSpPr>
        <p:spPr>
          <a:xfrm>
            <a:off x="10744200" y="3611880"/>
            <a:ext cx="-438912" cy="-45720"/>
          </a:xfrm>
          <a:prstGeom prst="line">
            <a:avLst/>
          </a:prstGeom>
          <a:noFill/>
          <a:ln w="19050">
            <a:solidFill>
              <a:srgbClr val="F0B786"/>
            </a:solidFill>
            <a:prstDash val="solid"/>
            <a:tailEnd type="triangle"/>
          </a:ln>
        </p:spPr>
      </p:sp>
      <p:sp>
        <p:nvSpPr>
          <p:cNvPr id="73" name="Text 59"/>
          <p:cNvSpPr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« traduit » les images en texte (résumé), ce qui permet de tout ranger dans une seule bibliothèque commune.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gitbranch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1488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simple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331720" y="1261872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31720" y="1508760"/>
          <a:ext cx="932688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3383280"/>
                <a:gridCol w="356616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Deux bases séparées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Une base combinée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Représentation des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Empreinte visuelle directe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Résumé texte fait par une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bases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(une par modalité)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Deux recherches parallèles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seule recherche unifiée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Point 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visuelle brute préservée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simple : un seul espace, embeddings texte classiques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Point 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 modèle multimodal requis ; 2 bases à gérer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Dépend de la qualité du résumé ; détails visuels possibles perdus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POUR TOUT RETENIR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bibliothèque avec des livres et des tableaux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1E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DE4E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993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catalogues séparés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5176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catalogue de photos des tableaux, un catalogue de fiches de lecture. Le bibliothécaire consulte les deux.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993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catalogue unique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expert rédige une fiche décrivant chaque tableau ; toutes les fiches (livres + tableaux) rangées ensemble. Fiche trouvée → on va chercher le tableau original.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10561320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846320"/>
            <a:ext cx="10012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RAG multimodal rend les images « cherchables » comme du texte — en les empreintant directement dans un espace multimodal avec une base dédiée (a), ou en les résumant en texte pour tout unifier dans une base unique (b).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2026-09-10T18:17:57Z</dcterms:created>
  <dcterms:modified xsi:type="dcterms:W3CDTF">2026-09-10T18:17:57Z</dcterms:modified>
</cp:coreProperties>
</file>