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PAPIER EXPLIQUÉ SIMPLEMENT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05740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Attention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Couper la mémoire de contexte en deux, sans perte de précision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Graef &amp; Wasielewski, 2025 — arXiv:2503.05840  ·  Technique n°8 du cours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4389120"/>
            <a:ext cx="10515600" cy="1371600"/>
          </a:xfrm>
          <a:prstGeom prst="roundRect">
            <a:avLst>
              <a:gd name="adj" fmla="val 5333"/>
            </a:avLst>
          </a:prstGeom>
          <a:solidFill>
            <a:srgbClr val="1E2A4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5537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UNE PHRASE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97280" y="4828032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valeurs (V) sont une fonction linéaire des clés (K) → inutile de les stocker : on ne garde que K en cache, et on déplace le petit calcul restant après l'attention.</a:t>
            </a:r>
            <a:endParaRPr lang="en-US" sz="1300" dirty="0"/>
          </a:p>
        </p:txBody>
      </p:sp>
      <p:pic>
        <p:nvPicPr>
          <p:cNvPr id="9" name="Image 0" descr="/home/claude/deck/icons/hardDrive_38BDF8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10058400" y="54864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0292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0" y="14173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777240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</a:ln>
        </p:spPr>
      </p:sp>
      <p:pic>
        <p:nvPicPr>
          <p:cNvPr id="6" name="Image 0" descr="/home/claude/deck/icons/hardDrive_38BDF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" y="214884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31720" y="457200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problème : le KV-cache pèse lourd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2331720" y="1261872"/>
            <a:ext cx="9281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331720" y="1463040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générer du texte, un LLM garde en mémoire les clés (K) et valeurs (V) de tous les tokens déjà vus — le KV-cache. Plus le contexte est long, plus il grossit.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2331720" y="2468880"/>
            <a:ext cx="5577840" cy="3566160"/>
          </a:xfrm>
          <a:prstGeom prst="roundRect">
            <a:avLst>
              <a:gd name="adj" fmla="val 2051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606040" y="2651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Phi-3-mini-128k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017520" y="4480560"/>
            <a:ext cx="1005840" cy="1051560"/>
          </a:xfrm>
          <a:prstGeom prst="roundRect">
            <a:avLst>
              <a:gd name="adj" fmla="val 2727"/>
            </a:avLst>
          </a:prstGeom>
          <a:solidFill>
            <a:srgbClr val="3B4A73"/>
          </a:solidFill>
          <a:ln/>
        </p:spPr>
      </p:sp>
      <p:sp>
        <p:nvSpPr>
          <p:cNvPr id="14" name="Text 11"/>
          <p:cNvSpPr/>
          <p:nvPr/>
        </p:nvSpPr>
        <p:spPr>
          <a:xfrm>
            <a:off x="2788920" y="40233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12,5 Go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297680" y="4480560"/>
            <a:ext cx="1005840" cy="1051560"/>
          </a:xfrm>
          <a:prstGeom prst="roundRect">
            <a:avLst>
              <a:gd name="adj" fmla="val 2727"/>
            </a:avLst>
          </a:prstGeom>
          <a:solidFill>
            <a:srgbClr val="EF4444"/>
          </a:solidFill>
          <a:ln/>
        </p:spPr>
      </p:sp>
      <p:sp>
        <p:nvSpPr>
          <p:cNvPr id="16" name="Text 13"/>
          <p:cNvSpPr/>
          <p:nvPr/>
        </p:nvSpPr>
        <p:spPr>
          <a:xfrm>
            <a:off x="4069080" y="40233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12,5 Go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017520" y="5532120"/>
            <a:ext cx="22860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06040" y="5669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: 25 Go de KV-cache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606040" y="6126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moitié de la mémoire sert juste à stocker V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138160" y="24688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366760" y="2651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ANALOGIE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366760" y="301752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comme garder deux copies d'un même carnet de notes — une pour les questions (K), une pour les réponses (V) — alors que les réponses peuvent se recalculer à la volée à partir des questions.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0292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0" y="14173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777240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</a:ln>
        </p:spPr>
      </p:sp>
      <p:pic>
        <p:nvPicPr>
          <p:cNvPr id="6" name="Image 0" descr="/home/claude/deck/icons/target_38BDF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" y="214884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31720" y="457200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L'astuce : V est une fonction de K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2331720" y="1261872"/>
            <a:ext cx="9281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331720" y="1463040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un Transformer : K = X·W_K et V = X·W_V. Comme W_K est inversible, on peut réécrire V directement à partir de K.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2331720" y="2331720"/>
            <a:ext cx="9326880" cy="1234440"/>
          </a:xfrm>
          <a:prstGeom prst="roundRect">
            <a:avLst>
              <a:gd name="adj" fmla="val 5926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331720" y="233172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 =  K · W_KV          avec   W_KV = W_K⁻¹ · W_V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331720" y="310896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W_KV est précalculée une seule fois, au chargement du modèle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331720" y="3840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CHANGE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331720" y="4206240"/>
            <a:ext cx="2971800" cy="182880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514600" y="43891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514600" y="475488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stocke K ET V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2× la mémoire</a:t>
            </a:r>
            <a:endParaRPr lang="en-US" sz="1300" dirty="0"/>
          </a:p>
        </p:txBody>
      </p:sp>
      <p:pic>
        <p:nvPicPr>
          <p:cNvPr id="18" name="Image 1" descr="/home/claude/deck/icons/arrowRight_4F46E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4892040"/>
            <a:ext cx="274320" cy="27432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577840" y="4206240"/>
            <a:ext cx="2971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760720" y="43891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760720" y="475488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se recalcule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partir de K</a:t>
            </a:r>
            <a:endParaRPr lang="en-US" sz="1300" dirty="0"/>
          </a:p>
        </p:txBody>
      </p:sp>
      <p:pic>
        <p:nvPicPr>
          <p:cNvPr id="22" name="Image 2" descr="/home/claude/deck/icons/arrowRight_4F46E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928" y="4892040"/>
            <a:ext cx="274320" cy="27432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823960" y="4206240"/>
            <a:ext cx="2971800" cy="1828800"/>
          </a:xfrm>
          <a:prstGeom prst="roundRect">
            <a:avLst>
              <a:gd name="adj" fmla="val 4000"/>
            </a:avLst>
          </a:prstGeom>
          <a:solidFill>
            <a:srgbClr val="4F46E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9006840" y="43891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9006840" y="475488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stocke K seul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2× moins de mémoire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0292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0" y="14173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777240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</a:ln>
        </p:spPr>
      </p:sp>
      <p:pic>
        <p:nvPicPr>
          <p:cNvPr id="6" name="Image 0" descr="/home/claude/deck/icons/cpu_38BDF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" y="214884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31720" y="457200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3 scénarios du schéma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2331720" y="1261872"/>
            <a:ext cx="9281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331720" y="1463040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figure montre où et quand appliquer l'astuce. Le vrai gain vient du scénario (c) : on déplace le petit calcul après l'attention.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331720" y="2148840"/>
            <a:ext cx="93268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60320" y="2313432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22C55E"/>
          </a:solidFill>
          <a:ln/>
        </p:spPr>
      </p:sp>
      <p:sp>
        <p:nvSpPr>
          <p:cNvPr id="13" name="Text 10"/>
          <p:cNvSpPr/>
          <p:nvPr/>
        </p:nvSpPr>
        <p:spPr>
          <a:xfrm>
            <a:off x="2560320" y="23134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337560" y="227685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Prompt-phase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337560" y="260604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tokens d'entrée arrivent d'un coup. On calcule V normalement, mais on ne met que K en cache.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006840" y="2514600"/>
            <a:ext cx="2514600" cy="502920"/>
          </a:xfrm>
          <a:prstGeom prst="roundRect">
            <a:avLst>
              <a:gd name="adj" fmla="val 50909"/>
            </a:avLst>
          </a:prstGeom>
          <a:solidFill>
            <a:srgbClr val="F8FAFC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06840" y="25146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normal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331720" y="3566160"/>
            <a:ext cx="93268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560320" y="3730752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2560320" y="37307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3337560" y="369417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Génération — non optimisée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3337560" y="402336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nouveau token à la fois. On reconstruit V pour TOUT le contexte (n tokens) avant même de savoir ce qui compte.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9006840" y="3931920"/>
            <a:ext cx="2514600" cy="502920"/>
          </a:xfrm>
          <a:prstGeom prst="roundRect">
            <a:avLst>
              <a:gd name="adj" fmla="val 50909"/>
            </a:avLst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06840" y="39319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gaspillé ∝ n·d²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331720" y="4983480"/>
            <a:ext cx="93268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560320" y="5148072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38BDF8"/>
          </a:solidFill>
          <a:ln/>
        </p:spPr>
      </p:sp>
      <p:sp>
        <p:nvSpPr>
          <p:cNvPr id="27" name="Text 24"/>
          <p:cNvSpPr/>
          <p:nvPr/>
        </p:nvSpPr>
        <p:spPr>
          <a:xfrm>
            <a:off x="2560320" y="514807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3337560" y="511149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Génération — optimisée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3337560" y="544068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fait d'abord l'attention directement sur les clés K, puis on applique la petite projection W_KV — seulement sur le résultat final.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9006840" y="5349240"/>
            <a:ext cx="2514600" cy="502920"/>
          </a:xfrm>
          <a:prstGeom prst="roundRect">
            <a:avLst>
              <a:gd name="adj" fmla="val 50909"/>
            </a:avLst>
          </a:prstGeom>
          <a:solidFill>
            <a:srgbClr val="F8FAFC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006840" y="53492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indépendant de n ✓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Même précision, deux fois moins de mémoire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3246120" cy="2286000"/>
          </a:xfrm>
          <a:prstGeom prst="roundRect">
            <a:avLst>
              <a:gd name="adj" fmla="val 3200"/>
            </a:avLst>
          </a:prstGeom>
          <a:solidFill>
            <a:srgbClr val="1E2A4A"/>
          </a:solidFill>
          <a:ln w="12700">
            <a:solidFill>
              <a:srgbClr val="2A3654"/>
            </a:solidFill>
            <a:prstDash val="solid"/>
          </a:ln>
        </p:spPr>
      </p:sp>
      <p:pic>
        <p:nvPicPr>
          <p:cNvPr id="5" name="Image 0" descr="/home/claude/deck/icons/hardDrive_38BDF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1488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2697480"/>
            <a:ext cx="2788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051560" y="3383280"/>
            <a:ext cx="2788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mémoire de contexte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89120" y="1874520"/>
            <a:ext cx="3246120" cy="2286000"/>
          </a:xfrm>
          <a:prstGeom prst="roundRect">
            <a:avLst>
              <a:gd name="adj" fmla="val 3200"/>
            </a:avLst>
          </a:prstGeom>
          <a:solidFill>
            <a:srgbClr val="1E2A4A"/>
          </a:solidFill>
          <a:ln w="12700">
            <a:solidFill>
              <a:srgbClr val="2A3654"/>
            </a:solidFill>
            <a:prstDash val="solid"/>
          </a:ln>
        </p:spPr>
      </p:sp>
      <p:pic>
        <p:nvPicPr>
          <p:cNvPr id="9" name="Image 1" descr="/home/claude/deck/icons/zap_38BDF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1488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7720" y="2697480"/>
            <a:ext cx="2788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4617720" y="3383280"/>
            <a:ext cx="2788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rapide en génération (limité par la bande passante mémoire)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955280" y="1874520"/>
            <a:ext cx="3246120" cy="2286000"/>
          </a:xfrm>
          <a:prstGeom prst="roundRect">
            <a:avLst>
              <a:gd name="adj" fmla="val 3200"/>
            </a:avLst>
          </a:prstGeom>
          <a:solidFill>
            <a:srgbClr val="1E2A4A"/>
          </a:solidFill>
          <a:ln w="12700">
            <a:solidFill>
              <a:srgbClr val="2A3654"/>
            </a:solidFill>
            <a:prstDash val="solid"/>
          </a:ln>
        </p:spPr>
      </p:sp>
      <p:pic>
        <p:nvPicPr>
          <p:cNvPr id="13" name="Image 2" descr="/home/claude/deck/icons/checkCircle_38BDF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1488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83880" y="2697480"/>
            <a:ext cx="2788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400" dirty="0"/>
          </a:p>
        </p:txBody>
      </p:sp>
      <p:sp>
        <p:nvSpPr>
          <p:cNvPr id="15" name="Text 10"/>
          <p:cNvSpPr/>
          <p:nvPr/>
        </p:nvSpPr>
        <p:spPr>
          <a:xfrm>
            <a:off x="8183880" y="3383280"/>
            <a:ext cx="2788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précision — réécriture exacte, pas une approximation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22960" y="4526280"/>
            <a:ext cx="10515600" cy="1508760"/>
          </a:xfrm>
          <a:prstGeom prst="roundRect">
            <a:avLst>
              <a:gd name="adj" fmla="val 4848"/>
            </a:avLst>
          </a:prstGeom>
          <a:solidFill>
            <a:srgbClr val="16213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097280" y="46908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1097280" y="4965192"/>
            <a:ext cx="10058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avec FlashAttention et RoPE. Alternative : ou bien doubler la fenêtre de contexte à mémoire constante. Le MLA de DeepSeek utilise une idée voisine (compresser K/V en un espace latent).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2026-09-10T06:28:15Z</dcterms:created>
  <dcterms:modified xsi:type="dcterms:W3CDTF">2026-09-10T06:28:15Z</dcterms:modified>
</cp:coreProperties>
</file>